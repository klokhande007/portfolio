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484CFF-88AE-4941-9C89-5DDA30850DCF}" v="5" dt="2026-08-06T12:59:44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582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Lokhande" userId="7c049ab3-35fa-48a7-b84b-223e197ecb00" providerId="ADAL" clId="{8DE44EF5-8066-4ACF-BA02-0AE0159356A4}"/>
    <pc:docChg chg="custSel modSld">
      <pc:chgData name="Kiran Lokhande" userId="7c049ab3-35fa-48a7-b84b-223e197ecb00" providerId="ADAL" clId="{8DE44EF5-8066-4ACF-BA02-0AE0159356A4}" dt="2026-08-07T05:44:33.627" v="94" actId="14100"/>
      <pc:docMkLst>
        <pc:docMk/>
      </pc:docMkLst>
      <pc:sldChg chg="modSp mod">
        <pc:chgData name="Kiran Lokhande" userId="7c049ab3-35fa-48a7-b84b-223e197ecb00" providerId="ADAL" clId="{8DE44EF5-8066-4ACF-BA02-0AE0159356A4}" dt="2026-08-06T13:00:10.688" v="85" actId="255"/>
        <pc:sldMkLst>
          <pc:docMk/>
          <pc:sldMk cId="0" sldId="256"/>
        </pc:sldMkLst>
        <pc:spChg chg="mod">
          <ac:chgData name="Kiran Lokhande" userId="7c049ab3-35fa-48a7-b84b-223e197ecb00" providerId="ADAL" clId="{8DE44EF5-8066-4ACF-BA02-0AE0159356A4}" dt="2026-08-06T13:00:10.688" v="85" actId="255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Kiran Lokhande" userId="7c049ab3-35fa-48a7-b84b-223e197ecb00" providerId="ADAL" clId="{8DE44EF5-8066-4ACF-BA02-0AE0159356A4}" dt="2026-08-07T05:44:33.627" v="94" actId="14100"/>
        <pc:sldMkLst>
          <pc:docMk/>
          <pc:sldMk cId="0" sldId="258"/>
        </pc:sldMkLst>
        <pc:spChg chg="mod">
          <ac:chgData name="Kiran Lokhande" userId="7c049ab3-35fa-48a7-b84b-223e197ecb00" providerId="ADAL" clId="{8DE44EF5-8066-4ACF-BA02-0AE0159356A4}" dt="2026-08-06T12:43:57.166" v="55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Kiran Lokhande" userId="7c049ab3-35fa-48a7-b84b-223e197ecb00" providerId="ADAL" clId="{8DE44EF5-8066-4ACF-BA02-0AE0159356A4}" dt="2026-08-06T12:42:55.247" v="47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Kiran Lokhande" userId="7c049ab3-35fa-48a7-b84b-223e197ecb00" providerId="ADAL" clId="{8DE44EF5-8066-4ACF-BA02-0AE0159356A4}" dt="2026-08-06T12:43:43.606" v="54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Kiran Lokhande" userId="7c049ab3-35fa-48a7-b84b-223e197ecb00" providerId="ADAL" clId="{8DE44EF5-8066-4ACF-BA02-0AE0159356A4}" dt="2026-08-06T12:43:33.620" v="52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Kiran Lokhande" userId="7c049ab3-35fa-48a7-b84b-223e197ecb00" providerId="ADAL" clId="{8DE44EF5-8066-4ACF-BA02-0AE0159356A4}" dt="2026-08-07T05:44:33.627" v="94" actId="14100"/>
          <ac:spMkLst>
            <pc:docMk/>
            <pc:sldMk cId="0" sldId="258"/>
            <ac:spMk id="7" creationId="{00000000-0000-0000-0000-000000000000}"/>
          </ac:spMkLst>
        </pc:spChg>
        <pc:spChg chg="mod">
          <ac:chgData name="Kiran Lokhande" userId="7c049ab3-35fa-48a7-b84b-223e197ecb00" providerId="ADAL" clId="{8DE44EF5-8066-4ACF-BA02-0AE0159356A4}" dt="2026-08-06T12:42:33.417" v="45" actId="20577"/>
          <ac:spMkLst>
            <pc:docMk/>
            <pc:sldMk cId="0" sldId="258"/>
            <ac:spMk id="8" creationId="{00000000-0000-0000-0000-000000000000}"/>
          </ac:spMkLst>
        </pc:spChg>
      </pc:sldChg>
      <pc:sldChg chg="modSp mod">
        <pc:chgData name="Kiran Lokhande" userId="7c049ab3-35fa-48a7-b84b-223e197ecb00" providerId="ADAL" clId="{8DE44EF5-8066-4ACF-BA02-0AE0159356A4}" dt="2026-08-06T12:46:16.432" v="80" actId="113"/>
        <pc:sldMkLst>
          <pc:docMk/>
          <pc:sldMk cId="0" sldId="259"/>
        </pc:sldMkLst>
        <pc:spChg chg="mod">
          <ac:chgData name="Kiran Lokhande" userId="7c049ab3-35fa-48a7-b84b-223e197ecb00" providerId="ADAL" clId="{8DE44EF5-8066-4ACF-BA02-0AE0159356A4}" dt="2026-08-06T12:45:48.357" v="78" actId="255"/>
          <ac:spMkLst>
            <pc:docMk/>
            <pc:sldMk cId="0" sldId="259"/>
            <ac:spMk id="5" creationId="{00000000-0000-0000-0000-000000000000}"/>
          </ac:spMkLst>
        </pc:spChg>
        <pc:spChg chg="mod">
          <ac:chgData name="Kiran Lokhande" userId="7c049ab3-35fa-48a7-b84b-223e197ecb00" providerId="ADAL" clId="{8DE44EF5-8066-4ACF-BA02-0AE0159356A4}" dt="2026-08-06T12:46:16.432" v="80" actId="113"/>
          <ac:spMkLst>
            <pc:docMk/>
            <pc:sldMk cId="0" sldId="259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68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/>
        </p:nvSpPr>
        <p:spPr/>
        <p:txBody>
          <a:bodyPr/>
          <a:lstStyle/>
          <a:p>
            <a:r>
              <a:t>0:00-0:12 — Hi, I'm Kiran. My capstone automates the path from a Jira ticket to a published Confluence page, using Claude Code with the Atlassian MCP server and a custom skill.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/>
        </p:nvSpPr>
        <p:spPr/>
        <p:txBody>
          <a:bodyPr/>
          <a:lstStyle/>
          <a:p>
            <a:r>
              <a:t>0:12-0:35 — The problem: documentation tickets arrive thin. Descriptions are incomplete, every author writes a different shape, and publishing to Confluence is still manual copy-paste. Writers spend time restructuring instead of writing.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/>
        </p:nvSpPr>
        <p:spPr/>
        <p:txBody>
          <a:bodyPr/>
          <a:lstStyle/>
          <a:p>
            <a:r>
              <a:t>0:35-0:55 — One skill handles the whole chain. It reads Jira, filters to tickets with Documentation in the summary, drafts each one in the TOONS format - Title, Objective, Outcome, Notes, Steps - runs a grammar and completeness review, publishes to Confluence, and writes an analysis report. Critically, it never invents missing detail; it flags it.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/>
        </p:nvSpPr>
        <p:spPr/>
        <p:txBody>
          <a:bodyPr/>
          <a:lstStyle/>
          <a:p>
            <a:r>
              <a:t>0:55-1:15 — Setup is small. The skill file goes in the skills folder, the Atlassian MCP server is added with one command, and plugins are reloaded. Then a single prompt runs the whole thing. [Show the Cursor terminal screenshots here.]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/>
        </p:nvSpPr>
        <p:spPr/>
        <p:txBody>
          <a:bodyPr/>
          <a:lstStyle/>
          <a:p>
            <a:r>
              <a:t>1:15-1:40 — Here is the run. Three Jira tickets matched the Documentation filter - SCRUM-9, 10, and 11. Each produced a Confluence page under the Jira_Tickets folder, with the explanation, the TOONS description, and the grammar review findings. The analysis file summarises the run. [Show Jira board, then the three Confluence pages, then analysis.md.]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/>
        </p:nvSpPr>
        <p:spPr/>
        <p:txBody>
          <a:bodyPr/>
          <a:lstStyle/>
          <a:p>
            <a:r>
              <a:t>1:40-1:55 — Four things I'd carry forward: keep each skill narrow, let gaps stay visible rather than filling them with guesses, always test one ticket before the batch, and verify the connection before anything else.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/>
        </p:nvSpPr>
        <p:spPr/>
        <p:txBody>
          <a:bodyPr/>
          <a:lstStyle/>
          <a:p>
            <a:r>
              <a:t>1:55-2:00 — Next step is running the same skill across the full backlog, so every documentation ticket arrives already structured and reviewed. Thank you.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cp.atlassian.com/v1/ss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02B"/>
          </a:solidFill>
        </p:spPr>
        <p:txBody>
          <a:bodyPr/>
          <a:lstStyle/>
          <a:p>
            <a:endParaRPr/>
          </a:p>
        </p:txBody>
      </p:sp>
      <p:sp>
        <p:nvSpPr>
          <p:cNvPr id="3" name="TextBox"/>
          <p:cNvSpPr txBox="1"/>
          <p:nvPr/>
        </p:nvSpPr>
        <p:spPr>
          <a:xfrm>
            <a:off x="685800" y="1900000"/>
            <a:ext cx="6000000" cy="400000"/>
          </a:xfrm>
          <a:prstGeom prst="rect">
            <a:avLst/>
          </a:prstGeom>
        </p:spPr>
        <p:txBody>
          <a:bodyPr wrap="none"/>
          <a:lstStyle/>
          <a:p>
            <a:r>
              <a:rPr sz="1400" b="1">
                <a:solidFill>
                  <a:srgbClr val="E8590C"/>
                </a:solidFill>
                <a:latin typeface="Calibri"/>
              </a:rPr>
              <a:t>CAPSTONE DEMO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685800" y="2400000"/>
            <a:ext cx="10820400" cy="1400000"/>
          </a:xfrm>
          <a:prstGeom prst="rect">
            <a:avLst/>
          </a:prstGeo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From Jira Ticket to Published Doc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685800" y="3900000"/>
            <a:ext cx="10820400" cy="700000"/>
          </a:xfrm>
          <a:prstGeom prst="rect">
            <a:avLst/>
          </a:prstGeom>
        </p:spPr>
        <p:txBody>
          <a:bodyPr/>
          <a:lstStyle/>
          <a:p>
            <a:r>
              <a:rPr lang="en-US" sz="2400" dirty="0">
                <a:solidFill>
                  <a:srgbClr val="00B0F0"/>
                </a:solidFill>
              </a:rPr>
              <a:t>Automating documentation drafts in Cursor, with Atlassian MCP connecting Claude to Jira and Confluence</a:t>
            </a:r>
            <a:endParaRPr sz="2400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6" name="TextBox"/>
          <p:cNvSpPr txBox="1"/>
          <p:nvPr/>
        </p:nvSpPr>
        <p:spPr>
          <a:xfrm>
            <a:off x="685800" y="5250000"/>
            <a:ext cx="10820400" cy="450000"/>
          </a:xfrm>
          <a:prstGeom prst="rect">
            <a:avLst/>
          </a:prstGeom>
        </p:spPr>
        <p:txBody>
          <a:bodyPr/>
          <a:lstStyle/>
          <a:p>
            <a:r>
              <a:rPr sz="1400">
                <a:solidFill>
                  <a:srgbClr val="8C9BAB"/>
                </a:solidFill>
                <a:latin typeface="Calibri"/>
              </a:rPr>
              <a:t>Kiran Lokhande  ·  Technical Writer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900000"/>
          </a:xfrm>
          <a:prstGeom prst="rect">
            <a:avLst/>
          </a:prstGeom>
        </p:spPr>
        <p:txBody>
          <a:bodyPr/>
          <a:lstStyle/>
          <a:p>
            <a:r>
              <a:rPr sz="2800" b="1">
                <a:solidFill>
                  <a:srgbClr val="1F3A5F"/>
                </a:solidFill>
                <a:latin typeface="Georgia"/>
              </a:rPr>
              <a:t>Thin Jira tickets stall documentation before writing starts</a:t>
            </a:r>
          </a:p>
        </p:txBody>
      </p:sp>
      <p:sp>
        <p:nvSpPr>
          <p:cNvPr id="3" name="Shape"/>
          <p:cNvSpPr/>
          <p:nvPr/>
        </p:nvSpPr>
        <p:spPr>
          <a:xfrm>
            <a:off x="685800" y="1900000"/>
            <a:ext cx="620000" cy="620000"/>
          </a:xfrm>
          <a:prstGeom prst="ellipse">
            <a:avLst/>
          </a:prstGeom>
          <a:solidFill>
            <a:srgbClr val="1F3A5F"/>
          </a:solidFill>
        </p:spPr>
        <p:txBody>
          <a:bodyPr wrap="none" anchor="ctr"/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0000" y="1900000"/>
            <a:ext cx="9900000" cy="800000"/>
          </a:xfrm>
          <a:prstGeom prst="rect">
            <a:avLst/>
          </a:prstGeom>
        </p:spPr>
        <p:txBody>
          <a:bodyPr/>
          <a:lstStyle/>
          <a:p>
            <a:r>
              <a:rPr sz="1800" b="1">
                <a:solidFill>
                  <a:srgbClr val="15202B"/>
                </a:solidFill>
                <a:latin typeface="Calibri"/>
              </a:rPr>
              <a:t>Descriptions are incomplete</a:t>
            </a:r>
          </a:p>
          <a:p>
            <a:r>
              <a:rPr sz="1600">
                <a:solidFill>
                  <a:srgbClr val="5A6B7C"/>
                </a:solidFill>
                <a:latin typeface="Calibri"/>
              </a:rPr>
              <a:t>Objective and steps are often missing</a:t>
            </a:r>
          </a:p>
        </p:txBody>
      </p:sp>
      <p:sp>
        <p:nvSpPr>
          <p:cNvPr id="5" name="Shape"/>
          <p:cNvSpPr/>
          <p:nvPr/>
        </p:nvSpPr>
        <p:spPr>
          <a:xfrm>
            <a:off x="685800" y="3100000"/>
            <a:ext cx="620000" cy="620000"/>
          </a:xfrm>
          <a:prstGeom prst="ellipse">
            <a:avLst/>
          </a:prstGeom>
          <a:solidFill>
            <a:srgbClr val="2B8A78"/>
          </a:solidFill>
        </p:spPr>
        <p:txBody>
          <a:bodyPr wrap="none" anchor="ctr"/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≡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0000" y="3100000"/>
            <a:ext cx="9900000" cy="800000"/>
          </a:xfrm>
          <a:prstGeom prst="rect">
            <a:avLst/>
          </a:prstGeom>
        </p:spPr>
        <p:txBody>
          <a:bodyPr/>
          <a:lstStyle/>
          <a:p>
            <a:r>
              <a:rPr sz="1800" b="1">
                <a:solidFill>
                  <a:srgbClr val="15202B"/>
                </a:solidFill>
                <a:latin typeface="Calibri"/>
              </a:rPr>
              <a:t>Formats vary by author</a:t>
            </a:r>
          </a:p>
          <a:p>
            <a:r>
              <a:rPr sz="1600">
                <a:solidFill>
                  <a:srgbClr val="5A6B7C"/>
                </a:solidFill>
                <a:latin typeface="Calibri"/>
              </a:rPr>
              <a:t>No shared structure across tickets</a:t>
            </a:r>
          </a:p>
        </p:txBody>
      </p:sp>
      <p:sp>
        <p:nvSpPr>
          <p:cNvPr id="7" name="Shape"/>
          <p:cNvSpPr/>
          <p:nvPr/>
        </p:nvSpPr>
        <p:spPr>
          <a:xfrm>
            <a:off x="685800" y="4300000"/>
            <a:ext cx="620000" cy="620000"/>
          </a:xfrm>
          <a:prstGeom prst="ellipse">
            <a:avLst/>
          </a:prstGeom>
          <a:solidFill>
            <a:srgbClr val="E8590C"/>
          </a:solidFill>
        </p:spPr>
        <p:txBody>
          <a:bodyPr wrap="none" anchor="ctr"/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520000" y="4300000"/>
            <a:ext cx="9900000" cy="800000"/>
          </a:xfrm>
          <a:prstGeom prst="rect">
            <a:avLst/>
          </a:prstGeom>
        </p:spPr>
        <p:txBody>
          <a:bodyPr/>
          <a:lstStyle/>
          <a:p>
            <a:r>
              <a:rPr sz="1800" b="1">
                <a:solidFill>
                  <a:srgbClr val="15202B"/>
                </a:solidFill>
                <a:latin typeface="Calibri"/>
              </a:rPr>
              <a:t>Publishing is manual</a:t>
            </a:r>
          </a:p>
          <a:p>
            <a:r>
              <a:rPr sz="1600">
                <a:solidFill>
                  <a:srgbClr val="5A6B7C"/>
                </a:solidFill>
                <a:latin typeface="Calibri"/>
              </a:rPr>
              <a:t>Copying each page to Confluence costs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900000"/>
          </a:xfrm>
          <a:prstGeom prst="rect">
            <a:avLst/>
          </a:prstGeom>
        </p:spPr>
        <p:txBody>
          <a:bodyPr/>
          <a:lstStyle/>
          <a:p>
            <a:r>
              <a:rPr sz="2800" b="1">
                <a:solidFill>
                  <a:srgbClr val="1F3A5F"/>
                </a:solidFill>
                <a:latin typeface="Georgia"/>
              </a:rPr>
              <a:t>One skill runs the whole chain, from ticket to page</a:t>
            </a:r>
          </a:p>
        </p:txBody>
      </p:sp>
      <p:sp>
        <p:nvSpPr>
          <p:cNvPr id="3" name="Shape"/>
          <p:cNvSpPr/>
          <p:nvPr/>
        </p:nvSpPr>
        <p:spPr>
          <a:xfrm>
            <a:off x="677957" y="2500000"/>
            <a:ext cx="2374029" cy="1100000"/>
          </a:xfrm>
          <a:prstGeom prst="chevron">
            <a:avLst/>
          </a:prstGeom>
          <a:solidFill>
            <a:srgbClr val="1F3A5F"/>
          </a:solidFill>
        </p:spPr>
        <p:txBody>
          <a:bodyPr wrap="none" anchor="ctr"/>
          <a:lstStyle/>
          <a:p>
            <a:r>
              <a:rPr sz="2400" dirty="0">
                <a:solidFill>
                  <a:srgbClr val="EE0000"/>
                </a:solidFill>
              </a:rPr>
              <a:t>Read</a:t>
            </a:r>
            <a:r>
              <a:rPr sz="2400" dirty="0"/>
              <a:t> </a:t>
            </a:r>
            <a:r>
              <a:rPr sz="2400" dirty="0">
                <a:solidFill>
                  <a:srgbClr val="EE0000"/>
                </a:solidFill>
              </a:rPr>
              <a:t>Jira</a:t>
            </a:r>
          </a:p>
        </p:txBody>
      </p:sp>
      <p:sp>
        <p:nvSpPr>
          <p:cNvPr id="4" name="Shape"/>
          <p:cNvSpPr/>
          <p:nvPr/>
        </p:nvSpPr>
        <p:spPr>
          <a:xfrm>
            <a:off x="2785799" y="2500000"/>
            <a:ext cx="2374029" cy="1100000"/>
          </a:xfrm>
          <a:prstGeom prst="chevron">
            <a:avLst/>
          </a:prstGeom>
          <a:solidFill>
            <a:srgbClr val="1F3A5F"/>
          </a:solidFill>
        </p:spPr>
        <p:txBody>
          <a:bodyPr wrap="none" anchor="ctr"/>
          <a:lstStyle/>
          <a:p>
            <a:r>
              <a:rPr sz="2400" dirty="0">
                <a:solidFill>
                  <a:srgbClr val="EE0000"/>
                </a:solidFill>
              </a:rPr>
              <a:t>Draft TOONS</a:t>
            </a:r>
          </a:p>
        </p:txBody>
      </p:sp>
      <p:sp>
        <p:nvSpPr>
          <p:cNvPr id="5" name="Shape"/>
          <p:cNvSpPr/>
          <p:nvPr/>
        </p:nvSpPr>
        <p:spPr>
          <a:xfrm>
            <a:off x="4901484" y="2500000"/>
            <a:ext cx="2616689" cy="1100000"/>
          </a:xfrm>
          <a:prstGeom prst="chevron">
            <a:avLst/>
          </a:prstGeom>
          <a:solidFill>
            <a:srgbClr val="2B8A78"/>
          </a:solidFill>
        </p:spPr>
        <p:txBody>
          <a:bodyPr wrap="none" anchor="ctr"/>
          <a:lstStyle/>
          <a:p>
            <a:r>
              <a:rPr sz="2400" dirty="0"/>
              <a:t>Check grammar</a:t>
            </a:r>
          </a:p>
        </p:txBody>
      </p:sp>
      <p:sp>
        <p:nvSpPr>
          <p:cNvPr id="6" name="Shape"/>
          <p:cNvSpPr/>
          <p:nvPr/>
        </p:nvSpPr>
        <p:spPr>
          <a:xfrm>
            <a:off x="7259828" y="2500000"/>
            <a:ext cx="2374029" cy="1100000"/>
          </a:xfrm>
          <a:prstGeom prst="chevron">
            <a:avLst/>
          </a:prstGeom>
          <a:solidFill>
            <a:srgbClr val="2B8A78"/>
          </a:solidFill>
        </p:spPr>
        <p:txBody>
          <a:bodyPr wrap="none" anchor="ctr"/>
          <a:lstStyle/>
          <a:p>
            <a:r>
              <a:rPr sz="2400" dirty="0"/>
              <a:t>Publish page</a:t>
            </a:r>
          </a:p>
        </p:txBody>
      </p:sp>
      <p:sp>
        <p:nvSpPr>
          <p:cNvPr id="7" name="Shape"/>
          <p:cNvSpPr/>
          <p:nvPr/>
        </p:nvSpPr>
        <p:spPr>
          <a:xfrm>
            <a:off x="9359828" y="2500000"/>
            <a:ext cx="2745086" cy="1100000"/>
          </a:xfrm>
          <a:prstGeom prst="chevron">
            <a:avLst/>
          </a:prstGeom>
          <a:solidFill>
            <a:srgbClr val="E8590C"/>
          </a:solidFill>
        </p:spPr>
        <p:txBody>
          <a:bodyPr wrap="none" anchor="ctr"/>
          <a:lstStyle/>
          <a:p>
            <a:r>
              <a:rPr lang="en-IN" sz="2400" dirty="0"/>
              <a:t>Analysis</a:t>
            </a:r>
            <a:r>
              <a:rPr sz="2400" dirty="0"/>
              <a:t> report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685800" y="42000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sz="2400" dirty="0">
                <a:solidFill>
                  <a:srgbClr val="5A6B7C"/>
                </a:solidFill>
                <a:latin typeface="Calibri"/>
              </a:rPr>
              <a:t>The skill selects only tickets with "Documentation" in the summary</a:t>
            </a:r>
            <a:r>
              <a:rPr lang="en-IN" sz="2400" dirty="0">
                <a:solidFill>
                  <a:srgbClr val="5A6B7C"/>
                </a:solidFill>
                <a:latin typeface="Calibri"/>
              </a:rPr>
              <a:t>.</a:t>
            </a:r>
            <a:endParaRPr sz="1600" dirty="0">
              <a:solidFill>
                <a:srgbClr val="5A6B7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900000"/>
          </a:xfrm>
          <a:prstGeom prst="rect">
            <a:avLst/>
          </a:prstGeom>
        </p:spPr>
        <p:txBody>
          <a:bodyPr/>
          <a:lstStyle/>
          <a:p>
            <a:r>
              <a:rPr sz="2800" b="1">
                <a:solidFill>
                  <a:srgbClr val="1F3A5F"/>
                </a:solidFill>
                <a:latin typeface="Georgia"/>
              </a:rPr>
              <a:t>Setup is three commands and one skill file</a:t>
            </a:r>
          </a:p>
        </p:txBody>
      </p:sp>
      <p:sp>
        <p:nvSpPr>
          <p:cNvPr id="3" name="Shape"/>
          <p:cNvSpPr/>
          <p:nvPr/>
        </p:nvSpPr>
        <p:spPr>
          <a:xfrm>
            <a:off x="685800" y="1700000"/>
            <a:ext cx="5200000" cy="3900000"/>
          </a:xfrm>
          <a:prstGeom prst="rect">
            <a:avLst/>
          </a:prstGeom>
          <a:solidFill>
            <a:srgbClr val="F1F4F8"/>
          </a:solidFill>
        </p:spPr>
        <p:txBody>
          <a:bodyPr/>
          <a:lstStyle/>
          <a:p>
            <a:endParaRPr dirty="0"/>
          </a:p>
        </p:txBody>
      </p:sp>
      <p:sp>
        <p:nvSpPr>
          <p:cNvPr id="4" name="TextBox"/>
          <p:cNvSpPr txBox="1"/>
          <p:nvPr/>
        </p:nvSpPr>
        <p:spPr>
          <a:xfrm>
            <a:off x="985800" y="1950000"/>
            <a:ext cx="4600000" cy="450000"/>
          </a:xfrm>
          <a:prstGeom prst="rect">
            <a:avLst/>
          </a:prstGeom>
        </p:spPr>
        <p:txBody>
          <a:bodyPr wrap="none"/>
          <a:lstStyle/>
          <a:p>
            <a:r>
              <a:rPr sz="2000" b="1">
                <a:solidFill>
                  <a:srgbClr val="1F3A5F"/>
                </a:solidFill>
                <a:latin typeface="Calibri"/>
              </a:rPr>
              <a:t>Setup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985800" y="2500000"/>
            <a:ext cx="4600000" cy="2800000"/>
          </a:xfrm>
          <a:prstGeom prst="rect">
            <a:avLst/>
          </a:prstGeom>
        </p:spPr>
        <p:txBody>
          <a:bodyPr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rgbClr val="15202B"/>
                </a:solidFill>
                <a:latin typeface="Consolas"/>
              </a:rPr>
              <a:t>Add SKILL.md to .</a:t>
            </a:r>
            <a:r>
              <a:rPr dirty="0" err="1">
                <a:solidFill>
                  <a:srgbClr val="15202B"/>
                </a:solidFill>
                <a:latin typeface="Consolas"/>
              </a:rPr>
              <a:t>claude</a:t>
            </a:r>
            <a:r>
              <a:rPr dirty="0">
                <a:solidFill>
                  <a:srgbClr val="15202B"/>
                </a:solidFill>
                <a:latin typeface="Consolas"/>
              </a:rPr>
              <a:t>/skills</a:t>
            </a:r>
            <a:r>
              <a:rPr lang="en-IN" dirty="0">
                <a:solidFill>
                  <a:srgbClr val="15202B"/>
                </a:solidFill>
                <a:latin typeface="Consolas"/>
              </a:rPr>
              <a:t> (Global Folder)</a:t>
            </a:r>
            <a:endParaRPr dirty="0">
              <a:solidFill>
                <a:srgbClr val="15202B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endParaRPr dirty="0">
              <a:solidFill>
                <a:srgbClr val="15202B"/>
              </a:solidFill>
              <a:latin typeface="Consolas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claude</a:t>
            </a:r>
            <a:r>
              <a:rPr lang="en-IN" dirty="0"/>
              <a:t> </a:t>
            </a:r>
            <a:r>
              <a:rPr lang="en-IN" dirty="0" err="1"/>
              <a:t>mcp</a:t>
            </a:r>
            <a:r>
              <a:rPr lang="en-IN" dirty="0"/>
              <a:t> add </a:t>
            </a:r>
            <a:r>
              <a:rPr lang="en-IN" dirty="0" err="1"/>
              <a:t>atlassian</a:t>
            </a:r>
            <a:r>
              <a:rPr lang="en-IN" dirty="0"/>
              <a:t> --transport </a:t>
            </a:r>
            <a:r>
              <a:rPr lang="en-IN" dirty="0" err="1"/>
              <a:t>sse</a:t>
            </a:r>
            <a:r>
              <a:rPr lang="en-IN" dirty="0"/>
              <a:t> --</a:t>
            </a:r>
            <a:r>
              <a:rPr lang="en-IN" dirty="0" err="1"/>
              <a:t>url</a:t>
            </a:r>
            <a:r>
              <a:rPr lang="en-IN" dirty="0"/>
              <a:t> </a:t>
            </a:r>
            <a:r>
              <a:rPr lang="en-IN" dirty="0">
                <a:hlinkClick r:id="rId3"/>
              </a:rPr>
              <a:t>https://mcp.atlassian.com/v1/sse</a:t>
            </a:r>
            <a:br>
              <a:rPr lang="en-IN" dirty="0"/>
            </a:br>
            <a:endParaRPr dirty="0">
              <a:solidFill>
                <a:srgbClr val="15202B"/>
              </a:solidFill>
              <a:latin typeface="Consolas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rgbClr val="15202B"/>
                </a:solidFill>
                <a:latin typeface="Consolas"/>
              </a:rPr>
              <a:t>/reload-plugins</a:t>
            </a:r>
          </a:p>
        </p:txBody>
      </p:sp>
      <p:sp>
        <p:nvSpPr>
          <p:cNvPr id="6" name="Shape"/>
          <p:cNvSpPr/>
          <p:nvPr/>
        </p:nvSpPr>
        <p:spPr>
          <a:xfrm>
            <a:off x="6306000" y="1700000"/>
            <a:ext cx="5200000" cy="39000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>
            <a:endParaRPr/>
          </a:p>
        </p:txBody>
      </p:sp>
      <p:sp>
        <p:nvSpPr>
          <p:cNvPr id="7" name="TextBox"/>
          <p:cNvSpPr txBox="1"/>
          <p:nvPr/>
        </p:nvSpPr>
        <p:spPr>
          <a:xfrm>
            <a:off x="6606000" y="1950000"/>
            <a:ext cx="4600000" cy="450000"/>
          </a:xfrm>
          <a:prstGeom prst="rect">
            <a:avLst/>
          </a:prstGeom>
        </p:spPr>
        <p:txBody>
          <a:bodyPr wrap="none"/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6606000" y="2500000"/>
            <a:ext cx="4600000" cy="2800000"/>
          </a:xfrm>
          <a:prstGeom prst="rect">
            <a:avLst/>
          </a:prstGeom>
        </p:spPr>
        <p:txBody>
          <a:bodyPr/>
          <a:lstStyle/>
          <a:p>
            <a:r>
              <a:rPr sz="1600" dirty="0">
                <a:solidFill>
                  <a:srgbClr val="FFFFFF"/>
                </a:solidFill>
                <a:latin typeface="Calibri"/>
              </a:rPr>
              <a:t>Use SKILL.md to process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KiranL_Jira</a:t>
            </a:r>
            <a:r>
              <a:rPr sz="1600" dirty="0">
                <a:solidFill>
                  <a:srgbClr val="FFFFFF"/>
                </a:solidFill>
                <a:latin typeface="Calibri"/>
              </a:rPr>
              <a:t>, draft TOONS pages, publish under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Jira_Tickets</a:t>
            </a:r>
            <a:r>
              <a:rPr sz="1600" dirty="0">
                <a:solidFill>
                  <a:srgbClr val="FFFFFF"/>
                </a:solidFill>
                <a:latin typeface="Calibri"/>
              </a:rPr>
              <a:t>, and create analysis.md.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900000"/>
          </a:xfrm>
          <a:prstGeom prst="rect">
            <a:avLst/>
          </a:prstGeom>
        </p:spPr>
        <p:txBody>
          <a:bodyPr/>
          <a:lstStyle/>
          <a:p>
            <a:r>
              <a:rPr sz="2800" b="1">
                <a:solidFill>
                  <a:srgbClr val="1F3A5F"/>
                </a:solidFill>
                <a:latin typeface="Georgia"/>
              </a:rPr>
              <a:t>Three documentation tickets ran end to end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685800" y="1550000"/>
            <a:ext cx="3400000" cy="1050000"/>
          </a:xfrm>
          <a:prstGeom prst="rect">
            <a:avLst/>
          </a:prstGeom>
        </p:spPr>
        <p:txBody>
          <a:bodyPr wrap="none" anchor="ctr"/>
          <a:lstStyle/>
          <a:p>
            <a:pPr algn="ctr"/>
            <a:r>
              <a:rPr sz="7200" b="1">
                <a:solidFill>
                  <a:srgbClr val="1F3A5F"/>
                </a:solidFill>
                <a:latin typeface="Georgia"/>
              </a:rPr>
              <a:t>3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685800" y="2650000"/>
            <a:ext cx="3400000" cy="450000"/>
          </a:xfrm>
          <a:prstGeom prst="rect">
            <a:avLst/>
          </a:prstGeom>
        </p:spPr>
        <p:txBody>
          <a:bodyPr wrap="none"/>
          <a:lstStyle/>
          <a:p>
            <a:pPr algn="ctr"/>
            <a:r>
              <a:rPr sz="1600">
                <a:solidFill>
                  <a:srgbClr val="5A6B7C"/>
                </a:solidFill>
                <a:latin typeface="Calibri"/>
              </a:rPr>
              <a:t>Tickets selected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4390800" y="1550000"/>
            <a:ext cx="3400000" cy="1050000"/>
          </a:xfrm>
          <a:prstGeom prst="rect">
            <a:avLst/>
          </a:prstGeom>
        </p:spPr>
        <p:txBody>
          <a:bodyPr wrap="none" anchor="ctr"/>
          <a:lstStyle/>
          <a:p>
            <a:pPr algn="ctr"/>
            <a:r>
              <a:rPr sz="7200" b="1">
                <a:solidFill>
                  <a:srgbClr val="2B8A78"/>
                </a:solidFill>
                <a:latin typeface="Georgia"/>
              </a:rPr>
              <a:t>3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4390800" y="2650000"/>
            <a:ext cx="3400000" cy="450000"/>
          </a:xfrm>
          <a:prstGeom prst="rect">
            <a:avLst/>
          </a:prstGeom>
        </p:spPr>
        <p:txBody>
          <a:bodyPr wrap="none"/>
          <a:lstStyle/>
          <a:p>
            <a:pPr algn="ctr"/>
            <a:r>
              <a:rPr sz="1600">
                <a:solidFill>
                  <a:srgbClr val="5A6B7C"/>
                </a:solidFill>
                <a:latin typeface="Calibri"/>
              </a:rPr>
              <a:t>Confluence pages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8095800" y="1550000"/>
            <a:ext cx="3400000" cy="1050000"/>
          </a:xfrm>
          <a:prstGeom prst="rect">
            <a:avLst/>
          </a:prstGeom>
        </p:spPr>
        <p:txBody>
          <a:bodyPr wrap="none" anchor="ctr"/>
          <a:lstStyle/>
          <a:p>
            <a:pPr algn="ctr"/>
            <a:r>
              <a:rPr sz="7200" b="1">
                <a:solidFill>
                  <a:srgbClr val="E8590C"/>
                </a:solidFill>
                <a:latin typeface="Georgia"/>
              </a:rPr>
              <a:t>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8095800" y="2650000"/>
            <a:ext cx="3400000" cy="450000"/>
          </a:xfrm>
          <a:prstGeom prst="rect">
            <a:avLst/>
          </a:prstGeom>
        </p:spPr>
        <p:txBody>
          <a:bodyPr wrap="none"/>
          <a:lstStyle/>
          <a:p>
            <a:pPr algn="ctr"/>
            <a:r>
              <a:rPr sz="1600">
                <a:solidFill>
                  <a:srgbClr val="5A6B7C"/>
                </a:solidFill>
                <a:latin typeface="Calibri"/>
              </a:rPr>
              <a:t>Analysis report</a:t>
            </a:r>
          </a:p>
        </p:txBody>
      </p:sp>
      <p:graphicFrame>
        <p:nvGraphicFramePr>
          <p:cNvPr id="9" name="Table"/>
          <p:cNvGraphicFramePr/>
          <p:nvPr/>
        </p:nvGraphicFramePr>
        <p:xfrm>
          <a:off x="685800" y="3450000"/>
          <a:ext cx="10820400" cy="1900000"/>
        </p:xfrm>
        <a:graphic>
          <a:graphicData uri="http://schemas.openxmlformats.org/drawingml/2006/table">
            <a:tbl>
              <a:tblPr/>
              <a:tblGrid>
                <a:gridCol w="541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Jira ticket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Confluence page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Calibri"/>
                        </a:rPr>
                        <a:t>SCRUM-9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202B"/>
                          </a:solidFill>
                          <a:latin typeface="Calibri"/>
                        </a:rPr>
                        <a:t>Release Notes Updates for PD - 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Calibri"/>
                        </a:rPr>
                        <a:t>SCRUM-10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202B"/>
                          </a:solidFill>
                          <a:latin typeface="Calibri"/>
                        </a:rPr>
                        <a:t>Patient Banner Updates - 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3A5F"/>
                          </a:solidFill>
                          <a:latin typeface="Calibri"/>
                        </a:rPr>
                        <a:t>SCRUM-11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202B"/>
                          </a:solidFill>
                          <a:latin typeface="Calibri"/>
                        </a:rPr>
                        <a:t>Code Description Missing - 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"/>
          <p:cNvSpPr txBox="1"/>
          <p:nvPr/>
        </p:nvSpPr>
        <p:spPr>
          <a:xfrm>
            <a:off x="685800" y="5600000"/>
            <a:ext cx="10820400" cy="400000"/>
          </a:xfrm>
          <a:prstGeom prst="rect">
            <a:avLst/>
          </a:prstGeom>
        </p:spPr>
        <p:txBody>
          <a:bodyPr/>
          <a:lstStyle/>
          <a:p>
            <a:r>
              <a:rPr sz="1400">
                <a:solidFill>
                  <a:srgbClr val="8C9BAB"/>
                </a:solidFill>
                <a:latin typeface="Calibri"/>
              </a:rPr>
              <a:t>Source: Capstone run in Jira project KiranL_Jira and Confluence space SD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900000"/>
          </a:xfrm>
          <a:prstGeom prst="rect">
            <a:avLst/>
          </a:prstGeom>
        </p:spPr>
        <p:txBody>
          <a:bodyPr/>
          <a:lstStyle/>
          <a:p>
            <a:r>
              <a:rPr sz="2800" b="1">
                <a:solidFill>
                  <a:srgbClr val="1F3A5F"/>
                </a:solidFill>
                <a:latin typeface="Georgia"/>
              </a:rPr>
              <a:t>Keeping the skill narrow made the run repeatable</a:t>
            </a:r>
          </a:p>
        </p:txBody>
      </p:sp>
      <p:sp>
        <p:nvSpPr>
          <p:cNvPr id="3" name="Shape"/>
          <p:cNvSpPr/>
          <p:nvPr/>
        </p:nvSpPr>
        <p:spPr>
          <a:xfrm>
            <a:off x="685800" y="1700000"/>
            <a:ext cx="5200000" cy="1850000"/>
          </a:xfrm>
          <a:prstGeom prst="rect">
            <a:avLst/>
          </a:prstGeom>
          <a:solidFill>
            <a:srgbClr val="F1F4F8"/>
          </a:solidFill>
        </p:spPr>
        <p:txBody>
          <a:bodyPr/>
          <a:lstStyle/>
          <a:p>
            <a:endParaRPr/>
          </a:p>
        </p:txBody>
      </p:sp>
      <p:sp>
        <p:nvSpPr>
          <p:cNvPr id="4" name="TextBox"/>
          <p:cNvSpPr txBox="1"/>
          <p:nvPr/>
        </p:nvSpPr>
        <p:spPr>
          <a:xfrm>
            <a:off x="985800" y="1950000"/>
            <a:ext cx="4600000" cy="1350000"/>
          </a:xfrm>
          <a:prstGeom prst="rect">
            <a:avLst/>
          </a:prstGeom>
        </p:spPr>
        <p:txBody>
          <a:bodyPr/>
          <a:lstStyle/>
          <a:p>
            <a:r>
              <a:rPr sz="1800" b="1">
                <a:solidFill>
                  <a:srgbClr val="1F3A5F"/>
                </a:solidFill>
                <a:latin typeface="Calibri"/>
              </a:rPr>
              <a:t>Scope one skill tightly</a:t>
            </a:r>
          </a:p>
          <a:p>
            <a:r>
              <a:rPr sz="1600">
                <a:solidFill>
                  <a:srgbClr val="5A6B7C"/>
                </a:solidFill>
                <a:latin typeface="Calibri"/>
              </a:rPr>
              <a:t>Splitting review from publishing kept it maintainable</a:t>
            </a:r>
          </a:p>
        </p:txBody>
      </p:sp>
      <p:sp>
        <p:nvSpPr>
          <p:cNvPr id="5" name="Shape"/>
          <p:cNvSpPr/>
          <p:nvPr/>
        </p:nvSpPr>
        <p:spPr>
          <a:xfrm>
            <a:off x="6306000" y="1700000"/>
            <a:ext cx="5200000" cy="1850000"/>
          </a:xfrm>
          <a:prstGeom prst="rect">
            <a:avLst/>
          </a:prstGeom>
          <a:solidFill>
            <a:srgbClr val="F1F4F8"/>
          </a:solidFill>
        </p:spPr>
        <p:txBody>
          <a:bodyPr/>
          <a:lstStyle/>
          <a:p>
            <a:endParaRPr/>
          </a:p>
        </p:txBody>
      </p:sp>
      <p:sp>
        <p:nvSpPr>
          <p:cNvPr id="6" name="TextBox"/>
          <p:cNvSpPr txBox="1"/>
          <p:nvPr/>
        </p:nvSpPr>
        <p:spPr>
          <a:xfrm>
            <a:off x="6606000" y="1950000"/>
            <a:ext cx="4600000" cy="1350000"/>
          </a:xfrm>
          <a:prstGeom prst="rect">
            <a:avLst/>
          </a:prstGeom>
        </p:spPr>
        <p:txBody>
          <a:bodyPr/>
          <a:lstStyle/>
          <a:p>
            <a:r>
              <a:rPr sz="1800" b="1">
                <a:solidFill>
                  <a:srgbClr val="1F3A5F"/>
                </a:solidFill>
                <a:latin typeface="Calibri"/>
              </a:rPr>
              <a:t>Let gaps stay visible</a:t>
            </a:r>
          </a:p>
          <a:p>
            <a:r>
              <a:rPr sz="1600">
                <a:solidFill>
                  <a:srgbClr val="5A6B7C"/>
                </a:solidFill>
                <a:latin typeface="Calibri"/>
              </a:rPr>
              <a:t>"Not specified in ticket" is a correct result</a:t>
            </a:r>
          </a:p>
        </p:txBody>
      </p:sp>
      <p:sp>
        <p:nvSpPr>
          <p:cNvPr id="7" name="Shape"/>
          <p:cNvSpPr/>
          <p:nvPr/>
        </p:nvSpPr>
        <p:spPr>
          <a:xfrm>
            <a:off x="685800" y="3800000"/>
            <a:ext cx="5200000" cy="1850000"/>
          </a:xfrm>
          <a:prstGeom prst="rect">
            <a:avLst/>
          </a:prstGeom>
          <a:solidFill>
            <a:srgbClr val="F1F4F8"/>
          </a:solidFill>
        </p:spPr>
        <p:txBody>
          <a:bodyPr/>
          <a:lstStyle/>
          <a:p>
            <a:endParaRPr/>
          </a:p>
        </p:txBody>
      </p:sp>
      <p:sp>
        <p:nvSpPr>
          <p:cNvPr id="8" name="TextBox"/>
          <p:cNvSpPr txBox="1"/>
          <p:nvPr/>
        </p:nvSpPr>
        <p:spPr>
          <a:xfrm>
            <a:off x="985800" y="4050000"/>
            <a:ext cx="4600000" cy="1350000"/>
          </a:xfrm>
          <a:prstGeom prst="rect">
            <a:avLst/>
          </a:prstGeom>
        </p:spPr>
        <p:txBody>
          <a:bodyPr/>
          <a:lstStyle/>
          <a:p>
            <a:r>
              <a:rPr sz="1800" b="1">
                <a:solidFill>
                  <a:srgbClr val="1F3A5F"/>
                </a:solidFill>
                <a:latin typeface="Calibri"/>
              </a:rPr>
              <a:t>Test one ticket first</a:t>
            </a:r>
          </a:p>
          <a:p>
            <a:r>
              <a:rPr sz="1600">
                <a:solidFill>
                  <a:srgbClr val="5A6B7C"/>
                </a:solidFill>
                <a:latin typeface="Calibri"/>
              </a:rPr>
              <a:t>Fixing one page beats fixing twenty</a:t>
            </a:r>
          </a:p>
        </p:txBody>
      </p:sp>
      <p:sp>
        <p:nvSpPr>
          <p:cNvPr id="9" name="Shape"/>
          <p:cNvSpPr/>
          <p:nvPr/>
        </p:nvSpPr>
        <p:spPr>
          <a:xfrm>
            <a:off x="6306000" y="3800000"/>
            <a:ext cx="5200000" cy="1850000"/>
          </a:xfrm>
          <a:prstGeom prst="rect">
            <a:avLst/>
          </a:prstGeom>
          <a:solidFill>
            <a:srgbClr val="F1F4F8"/>
          </a:solidFill>
        </p:spPr>
        <p:txBody>
          <a:bodyPr/>
          <a:lstStyle/>
          <a:p>
            <a:endParaRPr/>
          </a:p>
        </p:txBody>
      </p:sp>
      <p:sp>
        <p:nvSpPr>
          <p:cNvPr id="10" name="TextBox"/>
          <p:cNvSpPr txBox="1"/>
          <p:nvPr/>
        </p:nvSpPr>
        <p:spPr>
          <a:xfrm>
            <a:off x="6606000" y="4050000"/>
            <a:ext cx="4600000" cy="1350000"/>
          </a:xfrm>
          <a:prstGeom prst="rect">
            <a:avLst/>
          </a:prstGeom>
        </p:spPr>
        <p:txBody>
          <a:bodyPr/>
          <a:lstStyle/>
          <a:p>
            <a:r>
              <a:rPr sz="1800" b="1">
                <a:solidFill>
                  <a:srgbClr val="1F3A5F"/>
                </a:solidFill>
                <a:latin typeface="Calibri"/>
              </a:rPr>
              <a:t>Verify the connection early</a:t>
            </a:r>
          </a:p>
          <a:p>
            <a:r>
              <a:rPr sz="1600">
                <a:solidFill>
                  <a:srgbClr val="5A6B7C"/>
                </a:solidFill>
                <a:latin typeface="Calibri"/>
              </a:rPr>
              <a:t>Nothing runs until Atlassian is connected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02B"/>
          </a:solidFill>
        </p:spPr>
        <p:txBody>
          <a:bodyPr/>
          <a:lstStyle/>
          <a:p>
            <a:endParaRPr/>
          </a:p>
        </p:txBody>
      </p:sp>
      <p:sp>
        <p:nvSpPr>
          <p:cNvPr id="3" name="TextBox"/>
          <p:cNvSpPr txBox="1"/>
          <p:nvPr/>
        </p:nvSpPr>
        <p:spPr>
          <a:xfrm>
            <a:off x="685800" y="2500000"/>
            <a:ext cx="10820400" cy="1300000"/>
          </a:xfrm>
          <a:prstGeom prst="rect">
            <a:avLst/>
          </a:prstGeom>
        </p:spPr>
        <p:txBody>
          <a:bodyPr/>
          <a:lstStyle/>
          <a:p>
            <a:r>
              <a:rPr sz="3600" b="1">
                <a:solidFill>
                  <a:srgbClr val="FFFFFF"/>
                </a:solidFill>
                <a:latin typeface="Georgia"/>
              </a:rPr>
              <a:t>Next: run the same skill across the full backlog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685800" y="3950000"/>
            <a:ext cx="10820400" cy="700000"/>
          </a:xfrm>
          <a:prstGeom prst="rect">
            <a:avLst/>
          </a:prstGeom>
        </p:spPr>
        <p:txBody>
          <a:bodyPr/>
          <a:lstStyle/>
          <a:p>
            <a:r>
              <a:rPr sz="2000">
                <a:solidFill>
                  <a:srgbClr val="9FB0C0"/>
                </a:solidFill>
                <a:latin typeface="Calibri"/>
              </a:rPr>
              <a:t>Same structure, same review, no extra writer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627</Words>
  <Application>Microsoft Office PowerPoint</Application>
  <PresentationFormat>Widescreen</PresentationFormat>
  <Paragraphs>63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Kiran Lokhande</dc:creator>
  <cp:keywords/>
  <dc:description>generated using python-pptx</dc:description>
  <cp:lastModifiedBy>Kiran Lokhande</cp:lastModifiedBy>
  <cp:revision>2</cp:revision>
  <dcterms:created xsi:type="dcterms:W3CDTF">2013-01-27T09:14:16Z</dcterms:created>
  <dcterms:modified xsi:type="dcterms:W3CDTF">2026-08-07T05:44:35Z</dcterms:modified>
  <cp:category/>
</cp:coreProperties>
</file>